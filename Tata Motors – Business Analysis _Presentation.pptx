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89FE7B-AA88-4EF4-BCAC-260434233AF2}" v="7" dt="2025-11-26T16:01:03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kti dalvi" userId="eee6beb1daf436a7" providerId="LiveId" clId="{DB3B3889-2798-4AAC-AA92-FBB2C1EA5738}"/>
    <pc:docChg chg="modSld">
      <pc:chgData name="bhakti dalvi" userId="eee6beb1daf436a7" providerId="LiveId" clId="{DB3B3889-2798-4AAC-AA92-FBB2C1EA5738}" dt="2025-11-26T16:01:03.974" v="6"/>
      <pc:docMkLst>
        <pc:docMk/>
      </pc:docMkLst>
      <pc:sldChg chg="modTransition">
        <pc:chgData name="bhakti dalvi" userId="eee6beb1daf436a7" providerId="LiveId" clId="{DB3B3889-2798-4AAC-AA92-FBB2C1EA5738}" dt="2025-11-26T16:01:03.974" v="6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91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1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6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2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01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7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53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9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4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7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7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76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48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23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1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32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53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33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Tata Motors – Business Analysis (Jan–Jun 2024)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4D9163-CD0B-C87D-C028-3E06D23CE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2876" y="2275114"/>
            <a:ext cx="7565571" cy="450668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7699CB-FD4A-639F-0BBD-5CF33406E64F}"/>
              </a:ext>
            </a:extLst>
          </p:cNvPr>
          <p:cNvSpPr txBox="1"/>
          <p:nvPr/>
        </p:nvSpPr>
        <p:spPr>
          <a:xfrm>
            <a:off x="6297385" y="6208649"/>
            <a:ext cx="2057400" cy="372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b="1" i="1" dirty="0"/>
              <a:t>Prepared by Bhakti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63A2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275114"/>
            <a:ext cx="7704667" cy="3332816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6F6F6F"/>
                </a:solidFill>
              </a:defRPr>
            </a:pPr>
            <a:r>
              <a:rPr sz="3200" dirty="0"/>
              <a:t>Tata Motors is one of India’s leading automobile companies.</a:t>
            </a:r>
          </a:p>
          <a:p>
            <a:pPr lvl="1">
              <a:defRPr>
                <a:solidFill>
                  <a:srgbClr val="6F6F6F"/>
                </a:solidFill>
              </a:defRPr>
            </a:pPr>
            <a:r>
              <a:rPr sz="3200" dirty="0"/>
              <a:t>Known for safety and innovation.</a:t>
            </a:r>
          </a:p>
          <a:p>
            <a:pPr lvl="1">
              <a:defRPr>
                <a:solidFill>
                  <a:srgbClr val="6F6F6F"/>
                </a:solidFill>
              </a:defRPr>
            </a:pPr>
            <a:r>
              <a:rPr sz="3200" dirty="0"/>
              <a:t>Covers 6-month sales &amp; expenses.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63A2"/>
                </a:solidFill>
              </a:defRPr>
            </a:pPr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75115"/>
            <a:ext cx="7704667" cy="33328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sz="3200" dirty="0">
                <a:solidFill>
                  <a:srgbClr val="6F6F6F"/>
                </a:solidFill>
              </a:rPr>
              <a:t>Manufactures hatchbacks, sedans, SUVs &amp; EVs.</a:t>
            </a:r>
          </a:p>
          <a:p>
            <a:pPr lvl="1"/>
            <a:r>
              <a:rPr sz="3200" dirty="0">
                <a:solidFill>
                  <a:srgbClr val="6F6F6F"/>
                </a:solidFill>
              </a:rPr>
              <a:t>Strong nationwide network.</a:t>
            </a:r>
          </a:p>
          <a:p>
            <a:pPr lvl="1"/>
            <a:r>
              <a:rPr sz="3200" dirty="0">
                <a:solidFill>
                  <a:srgbClr val="6F6F6F"/>
                </a:solidFill>
              </a:rPr>
              <a:t>Popular models: Nexon, Punch, Tiago, </a:t>
            </a:r>
            <a:r>
              <a:rPr sz="3200" dirty="0" err="1">
                <a:solidFill>
                  <a:srgbClr val="6F6F6F"/>
                </a:solidFill>
              </a:rPr>
              <a:t>Altroz</a:t>
            </a:r>
            <a:r>
              <a:rPr sz="3200" dirty="0">
                <a:solidFill>
                  <a:srgbClr val="6F6F6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63A2"/>
                </a:solidFill>
              </a:defRPr>
            </a:pPr>
            <a:r>
              <a:t>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296886"/>
            <a:ext cx="7704667" cy="3332816"/>
          </a:xfrm>
        </p:spPr>
        <p:txBody>
          <a:bodyPr/>
          <a:lstStyle/>
          <a:p>
            <a:pPr>
              <a:defRPr>
                <a:solidFill>
                  <a:srgbClr val="6F6F6F"/>
                </a:solidFill>
              </a:defRPr>
            </a:pPr>
            <a:r>
              <a:rPr sz="3200" dirty="0">
                <a:solidFill>
                  <a:srgbClr val="6F6F6F"/>
                </a:solidFill>
              </a:rPr>
              <a:t>Nexon &amp; Punch are top sellers.</a:t>
            </a:r>
          </a:p>
          <a:p>
            <a:pPr lvl="1">
              <a:defRPr>
                <a:solidFill>
                  <a:srgbClr val="6F6F6F"/>
                </a:solidFill>
              </a:defRPr>
            </a:pPr>
            <a:r>
              <a:rPr sz="3200" dirty="0">
                <a:solidFill>
                  <a:srgbClr val="6F6F6F"/>
                </a:solidFill>
              </a:rPr>
              <a:t>Tiago &amp; </a:t>
            </a:r>
            <a:r>
              <a:rPr sz="3200" dirty="0" err="1">
                <a:solidFill>
                  <a:srgbClr val="6F6F6F"/>
                </a:solidFill>
              </a:rPr>
              <a:t>Altroz</a:t>
            </a:r>
            <a:r>
              <a:rPr sz="3200" dirty="0">
                <a:solidFill>
                  <a:srgbClr val="6F6F6F"/>
                </a:solidFill>
              </a:rPr>
              <a:t> perform well.</a:t>
            </a:r>
          </a:p>
          <a:p>
            <a:pPr lvl="1">
              <a:defRPr>
                <a:solidFill>
                  <a:srgbClr val="6F6F6F"/>
                </a:solidFill>
              </a:defRPr>
            </a:pPr>
            <a:r>
              <a:rPr sz="3200" dirty="0">
                <a:solidFill>
                  <a:srgbClr val="6F6F6F"/>
                </a:solidFill>
              </a:rPr>
              <a:t>Revenue increasing monthly</a:t>
            </a:r>
            <a:r>
              <a:rPr dirty="0"/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13659"/>
            <a:ext cx="7704667" cy="1981200"/>
          </a:xfrm>
        </p:spPr>
        <p:txBody>
          <a:bodyPr/>
          <a:lstStyle/>
          <a:p>
            <a:pPr>
              <a:defRPr>
                <a:solidFill>
                  <a:srgbClr val="0F63A2"/>
                </a:solidFill>
              </a:defRPr>
            </a:pPr>
            <a:r>
              <a:t>Sales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15886"/>
            <a:ext cx="7704667" cy="4083930"/>
          </a:xfrm>
        </p:spPr>
        <p:txBody>
          <a:bodyPr/>
          <a:lstStyle/>
          <a:p>
            <a:pPr>
              <a:defRPr>
                <a:solidFill>
                  <a:srgbClr val="6F6F6F"/>
                </a:solidFill>
              </a:defRPr>
            </a:pPr>
            <a:r>
              <a:rPr sz="3200" dirty="0">
                <a:solidFill>
                  <a:srgbClr val="6F6F6F"/>
                </a:solidFill>
              </a:rPr>
              <a:t>High</a:t>
            </a:r>
            <a:r>
              <a:rPr dirty="0"/>
              <a:t> </a:t>
            </a:r>
            <a:r>
              <a:rPr sz="3200" dirty="0">
                <a:solidFill>
                  <a:srgbClr val="6F6F6F"/>
                </a:solidFill>
              </a:rPr>
              <a:t>demand for compact SUVs.</a:t>
            </a:r>
          </a:p>
          <a:p>
            <a:pPr lvl="1">
              <a:defRPr>
                <a:solidFill>
                  <a:srgbClr val="6F6F6F"/>
                </a:solidFill>
              </a:defRPr>
            </a:pPr>
            <a:r>
              <a:rPr sz="3200" dirty="0">
                <a:solidFill>
                  <a:srgbClr val="6F6F6F"/>
                </a:solidFill>
              </a:rPr>
              <a:t>Stable performance across models.</a:t>
            </a:r>
          </a:p>
          <a:p>
            <a:pPr lvl="1">
              <a:defRPr>
                <a:solidFill>
                  <a:srgbClr val="6F6F6F"/>
                </a:solidFill>
              </a:defRPr>
            </a:pPr>
            <a:r>
              <a:rPr sz="3200" dirty="0">
                <a:solidFill>
                  <a:srgbClr val="6F6F6F"/>
                </a:solidFill>
              </a:rPr>
              <a:t>Strong sales in urban cities.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63A2"/>
                </a:solidFill>
              </a:defRPr>
            </a:pPr>
            <a:r>
              <a:t>Expense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340428"/>
            <a:ext cx="7704667" cy="3332816"/>
          </a:xfrm>
        </p:spPr>
        <p:txBody>
          <a:bodyPr/>
          <a:lstStyle/>
          <a:p>
            <a:pPr>
              <a:defRPr>
                <a:solidFill>
                  <a:srgbClr val="6F6F6F"/>
                </a:solidFill>
              </a:defRPr>
            </a:pPr>
            <a:r>
              <a:rPr sz="3200" dirty="0">
                <a:solidFill>
                  <a:srgbClr val="6F6F6F"/>
                </a:solidFill>
              </a:rPr>
              <a:t>Salary is major expense.</a:t>
            </a:r>
          </a:p>
          <a:p>
            <a:pPr lvl="1">
              <a:defRPr>
                <a:solidFill>
                  <a:srgbClr val="6F6F6F"/>
                </a:solidFill>
              </a:defRPr>
            </a:pPr>
            <a:r>
              <a:rPr sz="3200" dirty="0">
                <a:solidFill>
                  <a:srgbClr val="6F6F6F"/>
                </a:solidFill>
              </a:rPr>
              <a:t>Marketing &amp; R&amp;D costs rising.</a:t>
            </a:r>
          </a:p>
          <a:p>
            <a:pPr lvl="1">
              <a:defRPr>
                <a:solidFill>
                  <a:srgbClr val="6F6F6F"/>
                </a:solidFill>
              </a:defRPr>
            </a:pPr>
            <a:r>
              <a:rPr sz="3200" dirty="0">
                <a:solidFill>
                  <a:srgbClr val="6F6F6F"/>
                </a:solidFill>
              </a:rPr>
              <a:t>Logistics and maintenance stable.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63A2"/>
                </a:solidFill>
              </a:defRPr>
            </a:pPr>
            <a: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70314"/>
            <a:ext cx="7704667" cy="33328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sz="3200" dirty="0">
                <a:solidFill>
                  <a:srgbClr val="6F6F6F"/>
                </a:solidFill>
              </a:rPr>
              <a:t>Customers prefer Nexon, Punch, </a:t>
            </a:r>
            <a:r>
              <a:rPr sz="3200" dirty="0" err="1">
                <a:solidFill>
                  <a:srgbClr val="6F6F6F"/>
                </a:solidFill>
              </a:rPr>
              <a:t>Altroz</a:t>
            </a:r>
            <a:r>
              <a:rPr sz="3200" dirty="0">
                <a:solidFill>
                  <a:srgbClr val="6F6F6F"/>
                </a:solidFill>
              </a:rPr>
              <a:t>.</a:t>
            </a:r>
          </a:p>
          <a:p>
            <a:pPr lvl="1"/>
            <a:r>
              <a:rPr sz="3200" dirty="0">
                <a:solidFill>
                  <a:srgbClr val="6F6F6F"/>
                </a:solidFill>
              </a:rPr>
              <a:t>Buyers mostly from metro cities.</a:t>
            </a:r>
          </a:p>
          <a:p>
            <a:pPr lvl="1"/>
            <a:r>
              <a:rPr sz="3200" dirty="0">
                <a:solidFill>
                  <a:srgbClr val="6F6F6F"/>
                </a:solidFill>
              </a:rPr>
              <a:t>Payment modes: EMI, loan, full pay.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63A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219" y="2198915"/>
            <a:ext cx="7704667" cy="33328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sz="3200">
                <a:solidFill>
                  <a:srgbClr val="6F6F6F"/>
                </a:solidFill>
              </a:rPr>
              <a:t>Strong financial performance.</a:t>
            </a:r>
          </a:p>
          <a:p>
            <a:pPr lvl="1"/>
            <a:r>
              <a:rPr sz="3200">
                <a:solidFill>
                  <a:srgbClr val="6F6F6F"/>
                </a:solidFill>
              </a:rPr>
              <a:t>Growing SUV &amp; EV segment.</a:t>
            </a:r>
          </a:p>
          <a:p>
            <a:pPr lvl="1"/>
            <a:r>
              <a:rPr sz="3200">
                <a:solidFill>
                  <a:srgbClr val="6F6F6F"/>
                </a:solidFill>
              </a:rPr>
              <a:t>Positive future outlook.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63A2"/>
                </a:solidFill>
              </a:defRPr>
            </a:pPr>
            <a:r>
              <a:t>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405744"/>
            <a:ext cx="7704667" cy="33328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sz="3200">
                <a:solidFill>
                  <a:srgbClr val="6F6F6F"/>
                </a:solidFill>
              </a:rPr>
              <a:t>Data analysis in Excel.</a:t>
            </a:r>
          </a:p>
          <a:p>
            <a:pPr lvl="1"/>
            <a:r>
              <a:rPr sz="3200">
                <a:solidFill>
                  <a:srgbClr val="6F6F6F"/>
                </a:solidFill>
              </a:rPr>
              <a:t>Word reporting skills.</a:t>
            </a:r>
          </a:p>
          <a:p>
            <a:pPr lvl="1"/>
            <a:r>
              <a:rPr sz="3200">
                <a:solidFill>
                  <a:srgbClr val="6F6F6F"/>
                </a:solidFill>
              </a:rPr>
              <a:t>Understanding business trends.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3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C664E6-5276-EF9E-D97D-353255E24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992527"/>
            <a:ext cx="6204857" cy="4035663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EBEBEB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178</Words>
  <Application>Microsoft Office PowerPoint</Application>
  <PresentationFormat>On-screen Show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Tata Motors – Business Analysis (Jan–Jun 2024)</vt:lpstr>
      <vt:lpstr>Introduction</vt:lpstr>
      <vt:lpstr>Company Overview</vt:lpstr>
      <vt:lpstr>Sales Analysis</vt:lpstr>
      <vt:lpstr>Sales Highlights</vt:lpstr>
      <vt:lpstr>Expense Analysis</vt:lpstr>
      <vt:lpstr>Customer Insights</vt:lpstr>
      <vt:lpstr>Conclusion</vt:lpstr>
      <vt:lpstr>Learnings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bhakti dalvi</dc:creator>
  <cp:keywords/>
  <dc:description>generated using python-pptx</dc:description>
  <cp:lastModifiedBy>bhakti dalvi</cp:lastModifiedBy>
  <cp:revision>2</cp:revision>
  <dcterms:created xsi:type="dcterms:W3CDTF">2013-01-27T09:14:16Z</dcterms:created>
  <dcterms:modified xsi:type="dcterms:W3CDTF">2025-11-26T16:01:05Z</dcterms:modified>
  <cp:category/>
</cp:coreProperties>
</file>